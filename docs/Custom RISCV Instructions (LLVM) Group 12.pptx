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embeddedFontLst>
    <p:embeddedFont>
      <p:font typeface="Roboto Mon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RobotoMono-regular.fntdata"/><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RobotoMono-italic.fntdata"/><Relationship Id="rId6" Type="http://schemas.openxmlformats.org/officeDocument/2006/relationships/notesMaster" Target="notesMasters/notesMaster1.xml"/><Relationship Id="rId18" Type="http://schemas.openxmlformats.org/officeDocument/2006/relationships/font" Target="fonts/RobotoMono-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acfd199f5_2_7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eacfd199f5_2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acfd199f5_2_87: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eacfd199f5_2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eacfd199f5_2_9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eacfd199f5_2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eacfd199f5_2_10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g3eacfd199f5_2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acfd199f5_2_14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g3eacfd199f5_2_1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acfd199f5_0_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g3eacfd199f5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acfd199f5_0_2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g3eacfd199f5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eacfd199f5_0_2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g3eacfd199f5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eacfd199f5_0_3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g3eacfd199f5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eacfd199f5_0_4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eacfd199f5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8" name="Google Shape;58;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59" name="Google Shape;59;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1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4" name="Google Shape;64;p1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5" name="Google Shape;65;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1" name="Google Shape;71;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4" name="Google Shape;84;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5" name="Google Shape;85;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8" name="Google Shape;88;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2" name="Google Shape;92;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2" name="Google Shape;102;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3" name="Google Shape;103;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3887391" y="740569"/>
            <a:ext cx="4629150" cy="3655219"/>
          </a:xfrm>
          <a:prstGeom prst="rect">
            <a:avLst/>
          </a:prstGeom>
          <a:noFill/>
          <a:ln>
            <a:noFill/>
          </a:ln>
        </p:spPr>
      </p:sp>
      <p:sp>
        <p:nvSpPr>
          <p:cNvPr id="109" name="Google Shape;109;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0" name="Google Shape;110;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6" name="Google Shape;116;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2" name="Google Shape;122;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5"/>
          <p:cNvPicPr preferRelativeResize="0"/>
          <p:nvPr/>
        </p:nvPicPr>
        <p:blipFill rotWithShape="1">
          <a:blip r:embed="rId3">
            <a:alphaModFix/>
          </a:blip>
          <a:srcRect b="0" l="0" r="95477" t="30495"/>
          <a:stretch/>
        </p:blipFill>
        <p:spPr>
          <a:xfrm>
            <a:off x="-134658" y="0"/>
            <a:ext cx="472730" cy="5143499"/>
          </a:xfrm>
          <a:prstGeom prst="rect">
            <a:avLst/>
          </a:prstGeom>
          <a:noFill/>
          <a:ln>
            <a:noFill/>
          </a:ln>
        </p:spPr>
      </p:pic>
      <p:sp>
        <p:nvSpPr>
          <p:cNvPr id="130" name="Google Shape;130;p25"/>
          <p:cNvSpPr txBox="1"/>
          <p:nvPr/>
        </p:nvSpPr>
        <p:spPr>
          <a:xfrm>
            <a:off x="1926407" y="3653962"/>
            <a:ext cx="5703000" cy="9621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500" u="none" cap="none" strike="noStrike">
                <a:solidFill>
                  <a:srgbClr val="7F7F7F"/>
                </a:solidFill>
                <a:latin typeface="Calibri"/>
                <a:ea typeface="Calibri"/>
                <a:cs typeface="Calibri"/>
                <a:sym typeface="Calibri"/>
              </a:rPr>
              <a:t>Department of Electrical Engineering,</a:t>
            </a:r>
            <a:endParaRPr sz="1100"/>
          </a:p>
          <a:p>
            <a:pPr indent="0" lvl="0" marL="0" marR="0" rtl="0" algn="ctr">
              <a:spcBef>
                <a:spcPts val="0"/>
              </a:spcBef>
              <a:spcAft>
                <a:spcPts val="0"/>
              </a:spcAft>
              <a:buNone/>
            </a:pPr>
            <a:r>
              <a:rPr b="0" i="0" lang="en-GB" sz="1500" u="none" cap="none" strike="noStrike">
                <a:solidFill>
                  <a:srgbClr val="7F7F7F"/>
                </a:solidFill>
                <a:latin typeface="Calibri"/>
                <a:ea typeface="Calibri"/>
                <a:cs typeface="Calibri"/>
                <a:sym typeface="Calibri"/>
              </a:rPr>
              <a:t>University of Engineering and Technology Lahore</a:t>
            </a:r>
            <a:endParaRPr sz="1100"/>
          </a:p>
          <a:p>
            <a:pPr indent="0" lvl="0" marL="0" marR="0" rtl="0" algn="ctr">
              <a:spcBef>
                <a:spcPts val="0"/>
              </a:spcBef>
              <a:spcAft>
                <a:spcPts val="0"/>
              </a:spcAft>
              <a:buNone/>
            </a:pPr>
            <a:r>
              <a:t/>
            </a:r>
            <a:endParaRPr b="0" i="0" sz="1500" u="none" cap="none" strike="noStrike">
              <a:solidFill>
                <a:srgbClr val="7F7F7F"/>
              </a:solidFill>
              <a:latin typeface="Calibri"/>
              <a:ea typeface="Calibri"/>
              <a:cs typeface="Calibri"/>
              <a:sym typeface="Calibri"/>
            </a:endParaRPr>
          </a:p>
          <a:p>
            <a:pPr indent="0" lvl="0" marL="0" marR="0" rtl="0" algn="ctr">
              <a:spcBef>
                <a:spcPts val="0"/>
              </a:spcBef>
              <a:spcAft>
                <a:spcPts val="0"/>
              </a:spcAft>
              <a:buNone/>
            </a:pPr>
            <a:r>
              <a:rPr lang="en-GB" sz="1300">
                <a:solidFill>
                  <a:srgbClr val="7F7F7F"/>
                </a:solidFill>
                <a:latin typeface="Calibri"/>
                <a:ea typeface="Calibri"/>
                <a:cs typeface="Calibri"/>
                <a:sym typeface="Calibri"/>
              </a:rPr>
              <a:t>Spring 2026</a:t>
            </a:r>
            <a:endParaRPr sz="1100"/>
          </a:p>
        </p:txBody>
      </p:sp>
      <p:sp>
        <p:nvSpPr>
          <p:cNvPr id="131" name="Google Shape;131;p25"/>
          <p:cNvSpPr txBox="1"/>
          <p:nvPr>
            <p:ph type="ctrTitle"/>
          </p:nvPr>
        </p:nvSpPr>
        <p:spPr>
          <a:xfrm>
            <a:off x="535815" y="1136722"/>
            <a:ext cx="8357819" cy="1676447"/>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Custom RISCV Instructions</a:t>
            </a:r>
            <a:endParaRPr sz="3600">
              <a:solidFill>
                <a:srgbClr val="1E477B"/>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(LLVM)</a:t>
            </a:r>
            <a:endParaRPr sz="3600">
              <a:solidFill>
                <a:srgbClr val="1E477B"/>
              </a:solidFill>
              <a:latin typeface="Times New Roman"/>
              <a:ea typeface="Times New Roman"/>
              <a:cs typeface="Times New Roman"/>
              <a:sym typeface="Times New Roman"/>
            </a:endParaRPr>
          </a:p>
        </p:txBody>
      </p:sp>
      <p:sp>
        <p:nvSpPr>
          <p:cNvPr id="132" name="Google Shape;132;p25"/>
          <p:cNvSpPr txBox="1"/>
          <p:nvPr>
            <p:ph idx="1" type="subTitle"/>
          </p:nvPr>
        </p:nvSpPr>
        <p:spPr>
          <a:xfrm>
            <a:off x="1736909" y="588301"/>
            <a:ext cx="5829300" cy="346249"/>
          </a:xfrm>
          <a:prstGeom prst="rect">
            <a:avLst/>
          </a:prstGeom>
          <a:noFill/>
          <a:ln>
            <a:noFill/>
          </a:ln>
        </p:spPr>
        <p:txBody>
          <a:bodyPr anchorCtr="0" anchor="t" bIns="34275" lIns="68575" spcFirstLastPara="1" rIns="68575" wrap="square" tIns="34275">
            <a:normAutofit/>
          </a:bodyPr>
          <a:lstStyle/>
          <a:p>
            <a:pPr indent="0" lvl="0" marL="0" rtl="0" algn="ctr">
              <a:lnSpc>
                <a:spcPct val="90000"/>
              </a:lnSpc>
              <a:spcBef>
                <a:spcPts val="0"/>
              </a:spcBef>
              <a:spcAft>
                <a:spcPts val="0"/>
              </a:spcAft>
              <a:buClr>
                <a:schemeClr val="dk1"/>
              </a:buClr>
              <a:buSzPts val="1800"/>
              <a:buNone/>
            </a:pPr>
            <a:r>
              <a:rPr lang="en-GB">
                <a:latin typeface="Times New Roman"/>
                <a:ea typeface="Times New Roman"/>
                <a:cs typeface="Times New Roman"/>
                <a:sym typeface="Times New Roman"/>
              </a:rPr>
              <a:t>Group No.: 12</a:t>
            </a:r>
            <a:endParaRPr/>
          </a:p>
        </p:txBody>
      </p:sp>
      <p:sp>
        <p:nvSpPr>
          <p:cNvPr id="133" name="Google Shape;133;p25"/>
          <p:cNvSpPr txBox="1"/>
          <p:nvPr>
            <p:ph idx="12" type="sldNum"/>
          </p:nvPr>
        </p:nvSpPr>
        <p:spPr>
          <a:xfrm>
            <a:off x="7045776" y="4823249"/>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pic>
        <p:nvPicPr>
          <p:cNvPr id="134" name="Google Shape;134;p25"/>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6"/>
          <p:cNvPicPr preferRelativeResize="0"/>
          <p:nvPr/>
        </p:nvPicPr>
        <p:blipFill rotWithShape="1">
          <a:blip r:embed="rId3">
            <a:alphaModFix/>
          </a:blip>
          <a:srcRect b="0" l="0" r="95477" t="30495"/>
          <a:stretch/>
        </p:blipFill>
        <p:spPr>
          <a:xfrm>
            <a:off x="-134658" y="0"/>
            <a:ext cx="472730" cy="5143499"/>
          </a:xfrm>
          <a:prstGeom prst="rect">
            <a:avLst/>
          </a:prstGeom>
          <a:noFill/>
          <a:ln>
            <a:noFill/>
          </a:ln>
        </p:spPr>
      </p:pic>
      <p:sp>
        <p:nvSpPr>
          <p:cNvPr id="140" name="Google Shape;140;p26"/>
          <p:cNvSpPr txBox="1"/>
          <p:nvPr>
            <p:ph type="ctrTitle"/>
          </p:nvPr>
        </p:nvSpPr>
        <p:spPr>
          <a:xfrm>
            <a:off x="560231" y="362339"/>
            <a:ext cx="3664039" cy="568997"/>
          </a:xfrm>
          <a:prstGeom prst="rect">
            <a:avLst/>
          </a:prstGeom>
          <a:noFill/>
          <a:ln>
            <a:noFill/>
          </a:ln>
        </p:spPr>
        <p:txBody>
          <a:bodyPr anchorCtr="0" anchor="ctr" bIns="34275" lIns="68575" spcFirstLastPara="1" rIns="68575" wrap="square" tIns="34275">
            <a:normAutofit fontScale="90000"/>
          </a:bodyPr>
          <a:lstStyle/>
          <a:p>
            <a:pPr indent="0" lvl="0" marL="0" rtl="0" algn="just">
              <a:lnSpc>
                <a:spcPct val="90000"/>
              </a:lnSpc>
              <a:spcBef>
                <a:spcPts val="0"/>
              </a:spcBef>
              <a:spcAft>
                <a:spcPts val="0"/>
              </a:spcAft>
              <a:buClr>
                <a:srgbClr val="1E477B"/>
              </a:buClr>
              <a:buSzPct val="100000"/>
              <a:buFont typeface="Times New Roman"/>
              <a:buNone/>
            </a:pPr>
            <a:r>
              <a:rPr lang="en-GB" sz="3600">
                <a:solidFill>
                  <a:srgbClr val="1E477B"/>
                </a:solidFill>
                <a:latin typeface="Times New Roman"/>
                <a:ea typeface="Times New Roman"/>
                <a:cs typeface="Times New Roman"/>
                <a:sym typeface="Times New Roman"/>
              </a:rPr>
              <a:t>Group Introduction</a:t>
            </a:r>
            <a:endParaRPr/>
          </a:p>
        </p:txBody>
      </p:sp>
      <p:sp>
        <p:nvSpPr>
          <p:cNvPr id="141" name="Google Shape;141;p26"/>
          <p:cNvSpPr txBox="1"/>
          <p:nvPr/>
        </p:nvSpPr>
        <p:spPr>
          <a:xfrm>
            <a:off x="913075" y="1447392"/>
            <a:ext cx="3977962" cy="1038942"/>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1800"/>
              <a:buFont typeface="Arial"/>
              <a:buNone/>
            </a:pPr>
            <a:r>
              <a:rPr lang="en-GB" sz="1800">
                <a:solidFill>
                  <a:schemeClr val="dk1"/>
                </a:solidFill>
                <a:latin typeface="Times New Roman"/>
                <a:ea typeface="Times New Roman"/>
                <a:cs typeface="Times New Roman"/>
                <a:sym typeface="Times New Roman"/>
              </a:rPr>
              <a:t>Abdullah Chaudhary</a:t>
            </a:r>
            <a:r>
              <a:rPr b="0" i="0" lang="en-GB" sz="1800" u="none" cap="none" strike="noStrike">
                <a:solidFill>
                  <a:schemeClr val="dk1"/>
                </a:solidFill>
                <a:latin typeface="Times New Roman"/>
                <a:ea typeface="Times New Roman"/>
                <a:cs typeface="Times New Roman"/>
                <a:sym typeface="Times New Roman"/>
              </a:rPr>
              <a:t> (Group Leader)</a:t>
            </a:r>
            <a:endParaRPr sz="1100"/>
          </a:p>
          <a:p>
            <a:pPr indent="0" lvl="0" marL="0" marR="0" rtl="0" algn="just">
              <a:lnSpc>
                <a:spcPct val="90000"/>
              </a:lnSpc>
              <a:spcBef>
                <a:spcPts val="800"/>
              </a:spcBef>
              <a:spcAft>
                <a:spcPts val="0"/>
              </a:spcAft>
              <a:buClr>
                <a:srgbClr val="7F7F7F"/>
              </a:buClr>
              <a:buSzPts val="1800"/>
              <a:buFont typeface="Arial"/>
              <a:buNone/>
            </a:pPr>
            <a:r>
              <a:rPr lang="en-GB" sz="1800">
                <a:solidFill>
                  <a:srgbClr val="7F7F7F"/>
                </a:solidFill>
                <a:latin typeface="Times New Roman"/>
                <a:ea typeface="Times New Roman"/>
                <a:cs typeface="Times New Roman"/>
                <a:sym typeface="Times New Roman"/>
              </a:rPr>
              <a:t>2023-EE-168</a:t>
            </a:r>
            <a:endParaRPr sz="1100"/>
          </a:p>
          <a:p>
            <a:pPr indent="0" lvl="0" marL="0" marR="0" rtl="0" algn="just">
              <a:lnSpc>
                <a:spcPct val="90000"/>
              </a:lnSpc>
              <a:spcBef>
                <a:spcPts val="800"/>
              </a:spcBef>
              <a:spcAft>
                <a:spcPts val="0"/>
              </a:spcAft>
              <a:buClr>
                <a:srgbClr val="7F7F7F"/>
              </a:buClr>
              <a:buSzPts val="1800"/>
              <a:buFont typeface="Arial"/>
              <a:buNone/>
            </a:pPr>
            <a:r>
              <a:t/>
            </a:r>
            <a:endParaRPr sz="1100"/>
          </a:p>
        </p:txBody>
      </p:sp>
      <p:sp>
        <p:nvSpPr>
          <p:cNvPr id="142" name="Google Shape;142;p26"/>
          <p:cNvSpPr txBox="1"/>
          <p:nvPr/>
        </p:nvSpPr>
        <p:spPr>
          <a:xfrm>
            <a:off x="913075" y="2794659"/>
            <a:ext cx="3516634" cy="1038942"/>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1800"/>
              <a:buFont typeface="Arial"/>
              <a:buNone/>
            </a:pPr>
            <a:r>
              <a:rPr lang="en-GB" sz="1800">
                <a:solidFill>
                  <a:schemeClr val="dk1"/>
                </a:solidFill>
                <a:latin typeface="Times New Roman"/>
                <a:ea typeface="Times New Roman"/>
                <a:cs typeface="Times New Roman"/>
                <a:sym typeface="Times New Roman"/>
              </a:rPr>
              <a:t>Muhammad Talha Ayyaz</a:t>
            </a:r>
            <a:endParaRPr sz="1100"/>
          </a:p>
          <a:p>
            <a:pPr indent="0" lvl="0" marL="0" marR="0" rtl="0" algn="just">
              <a:lnSpc>
                <a:spcPct val="90000"/>
              </a:lnSpc>
              <a:spcBef>
                <a:spcPts val="800"/>
              </a:spcBef>
              <a:spcAft>
                <a:spcPts val="0"/>
              </a:spcAft>
              <a:buClr>
                <a:srgbClr val="7F7F7F"/>
              </a:buClr>
              <a:buSzPts val="1800"/>
              <a:buFont typeface="Arial"/>
              <a:buNone/>
            </a:pPr>
            <a:r>
              <a:rPr lang="en-GB" sz="1800">
                <a:solidFill>
                  <a:srgbClr val="7F7F7F"/>
                </a:solidFill>
                <a:latin typeface="Times New Roman"/>
                <a:ea typeface="Times New Roman"/>
                <a:cs typeface="Times New Roman"/>
                <a:sym typeface="Times New Roman"/>
              </a:rPr>
              <a:t>2023-EE-174</a:t>
            </a:r>
            <a:endParaRPr sz="1100"/>
          </a:p>
          <a:p>
            <a:pPr indent="0" lvl="0" marL="0" marR="0" rtl="0" algn="just">
              <a:lnSpc>
                <a:spcPct val="90000"/>
              </a:lnSpc>
              <a:spcBef>
                <a:spcPts val="800"/>
              </a:spcBef>
              <a:spcAft>
                <a:spcPts val="0"/>
              </a:spcAft>
              <a:buClr>
                <a:srgbClr val="7F7F7F"/>
              </a:buClr>
              <a:buSzPts val="1800"/>
              <a:buFont typeface="Arial"/>
              <a:buNone/>
            </a:pPr>
            <a:r>
              <a:t/>
            </a:r>
            <a:endParaRPr sz="1100"/>
          </a:p>
        </p:txBody>
      </p:sp>
      <p:pic>
        <p:nvPicPr>
          <p:cNvPr id="143" name="Google Shape;143;p26"/>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144" name="Google Shape;144;p26"/>
          <p:cNvSpPr txBox="1"/>
          <p:nvPr>
            <p:ph idx="12" type="sldNum"/>
          </p:nvPr>
        </p:nvSpPr>
        <p:spPr>
          <a:xfrm>
            <a:off x="7045777" y="4823249"/>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145" name="Google Shape;145;p26"/>
          <p:cNvSpPr txBox="1"/>
          <p:nvPr/>
        </p:nvSpPr>
        <p:spPr>
          <a:xfrm>
            <a:off x="5398771" y="1447392"/>
            <a:ext cx="3516634" cy="1038942"/>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1800"/>
              <a:buFont typeface="Arial"/>
              <a:buNone/>
            </a:pPr>
            <a:r>
              <a:rPr lang="en-GB" sz="1800">
                <a:solidFill>
                  <a:schemeClr val="dk1"/>
                </a:solidFill>
                <a:latin typeface="Times New Roman"/>
                <a:ea typeface="Times New Roman"/>
                <a:cs typeface="Times New Roman"/>
                <a:sym typeface="Times New Roman"/>
              </a:rPr>
              <a:t>Fatima Irfan Sohail</a:t>
            </a:r>
            <a:endParaRPr sz="1100"/>
          </a:p>
          <a:p>
            <a:pPr indent="0" lvl="0" marL="0" marR="0" rtl="0" algn="just">
              <a:lnSpc>
                <a:spcPct val="90000"/>
              </a:lnSpc>
              <a:spcBef>
                <a:spcPts val="800"/>
              </a:spcBef>
              <a:spcAft>
                <a:spcPts val="0"/>
              </a:spcAft>
              <a:buClr>
                <a:srgbClr val="7F7F7F"/>
              </a:buClr>
              <a:buSzPts val="1800"/>
              <a:buFont typeface="Arial"/>
              <a:buNone/>
            </a:pPr>
            <a:r>
              <a:rPr b="0" i="0" lang="en-GB" sz="1800" u="none" cap="none" strike="noStrike">
                <a:solidFill>
                  <a:srgbClr val="7F7F7F"/>
                </a:solidFill>
                <a:latin typeface="Times New Roman"/>
                <a:ea typeface="Times New Roman"/>
                <a:cs typeface="Times New Roman"/>
                <a:sym typeface="Times New Roman"/>
              </a:rPr>
              <a:t>20</a:t>
            </a:r>
            <a:r>
              <a:rPr lang="en-GB" sz="1800">
                <a:solidFill>
                  <a:srgbClr val="7F7F7F"/>
                </a:solidFill>
                <a:latin typeface="Times New Roman"/>
                <a:ea typeface="Times New Roman"/>
                <a:cs typeface="Times New Roman"/>
                <a:sym typeface="Times New Roman"/>
              </a:rPr>
              <a:t>23-EE-155</a:t>
            </a:r>
            <a:endParaRPr sz="1100"/>
          </a:p>
          <a:p>
            <a:pPr indent="0" lvl="0" marL="0" marR="0" rtl="0" algn="just">
              <a:lnSpc>
                <a:spcPct val="90000"/>
              </a:lnSpc>
              <a:spcBef>
                <a:spcPts val="800"/>
              </a:spcBef>
              <a:spcAft>
                <a:spcPts val="0"/>
              </a:spcAft>
              <a:buClr>
                <a:srgbClr val="7F7F7F"/>
              </a:buClr>
              <a:buSzPts val="1800"/>
              <a:buFont typeface="Arial"/>
              <a:buNone/>
            </a:pPr>
            <a:r>
              <a:t/>
            </a:r>
            <a:endParaRPr sz="1100"/>
          </a:p>
        </p:txBody>
      </p:sp>
      <p:sp>
        <p:nvSpPr>
          <p:cNvPr id="146" name="Google Shape;146;p26"/>
          <p:cNvSpPr txBox="1"/>
          <p:nvPr/>
        </p:nvSpPr>
        <p:spPr>
          <a:xfrm>
            <a:off x="5398771" y="2794659"/>
            <a:ext cx="3516634" cy="1038942"/>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1800"/>
              <a:buFont typeface="Arial"/>
              <a:buNone/>
            </a:pPr>
            <a:r>
              <a:rPr lang="en-GB" sz="1800">
                <a:solidFill>
                  <a:schemeClr val="dk1"/>
                </a:solidFill>
                <a:latin typeface="Times New Roman"/>
                <a:ea typeface="Times New Roman"/>
                <a:cs typeface="Times New Roman"/>
                <a:sym typeface="Times New Roman"/>
              </a:rPr>
              <a:t>Maryam Hania</a:t>
            </a:r>
            <a:endParaRPr sz="1100"/>
          </a:p>
          <a:p>
            <a:pPr indent="0" lvl="0" marL="0" marR="0" rtl="0" algn="just">
              <a:lnSpc>
                <a:spcPct val="90000"/>
              </a:lnSpc>
              <a:spcBef>
                <a:spcPts val="800"/>
              </a:spcBef>
              <a:spcAft>
                <a:spcPts val="0"/>
              </a:spcAft>
              <a:buClr>
                <a:srgbClr val="7F7F7F"/>
              </a:buClr>
              <a:buSzPts val="1800"/>
              <a:buFont typeface="Arial"/>
              <a:buNone/>
            </a:pPr>
            <a:r>
              <a:rPr lang="en-GB" sz="1800">
                <a:solidFill>
                  <a:srgbClr val="7F7F7F"/>
                </a:solidFill>
                <a:latin typeface="Times New Roman"/>
                <a:ea typeface="Times New Roman"/>
                <a:cs typeface="Times New Roman"/>
                <a:sym typeface="Times New Roman"/>
              </a:rPr>
              <a:t>2023-EE-104</a:t>
            </a:r>
            <a:endParaRPr sz="1100"/>
          </a:p>
          <a:p>
            <a:pPr indent="0" lvl="0" marL="0" marR="0" rtl="0" algn="just">
              <a:lnSpc>
                <a:spcPct val="90000"/>
              </a:lnSpc>
              <a:spcBef>
                <a:spcPts val="800"/>
              </a:spcBef>
              <a:spcAft>
                <a:spcPts val="0"/>
              </a:spcAft>
              <a:buClr>
                <a:srgbClr val="7F7F7F"/>
              </a:buClr>
              <a:buSzPts val="1800"/>
              <a:buFont typeface="Arial"/>
              <a:buNone/>
            </a:pPr>
            <a:r>
              <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7"/>
          <p:cNvPicPr preferRelativeResize="0"/>
          <p:nvPr/>
        </p:nvPicPr>
        <p:blipFill rotWithShape="1">
          <a:blip r:embed="rId3">
            <a:alphaModFix/>
          </a:blip>
          <a:srcRect b="0" l="0" r="95477" t="30495"/>
          <a:stretch/>
        </p:blipFill>
        <p:spPr>
          <a:xfrm>
            <a:off x="-134658" y="0"/>
            <a:ext cx="472730" cy="5143499"/>
          </a:xfrm>
          <a:prstGeom prst="rect">
            <a:avLst/>
          </a:prstGeom>
          <a:noFill/>
          <a:ln>
            <a:noFill/>
          </a:ln>
        </p:spPr>
      </p:pic>
      <p:pic>
        <p:nvPicPr>
          <p:cNvPr id="152" name="Google Shape;152;p27"/>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153" name="Google Shape;153;p27"/>
          <p:cNvSpPr txBox="1"/>
          <p:nvPr>
            <p:ph idx="12" type="sldNum"/>
          </p:nvPr>
        </p:nvSpPr>
        <p:spPr>
          <a:xfrm>
            <a:off x="7045777" y="4823249"/>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154" name="Google Shape;154;p27"/>
          <p:cNvSpPr txBox="1"/>
          <p:nvPr>
            <p:ph type="ctrTitle"/>
          </p:nvPr>
        </p:nvSpPr>
        <p:spPr>
          <a:xfrm>
            <a:off x="529928" y="362339"/>
            <a:ext cx="3712888" cy="568997"/>
          </a:xfrm>
          <a:prstGeom prst="rect">
            <a:avLst/>
          </a:prstGeom>
          <a:noFill/>
          <a:ln>
            <a:noFill/>
          </a:ln>
        </p:spPr>
        <p:txBody>
          <a:bodyPr anchorCtr="0" anchor="ctr"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Problem Statement</a:t>
            </a:r>
            <a:endParaRPr/>
          </a:p>
        </p:txBody>
      </p:sp>
      <p:sp>
        <p:nvSpPr>
          <p:cNvPr id="155" name="Google Shape;155;p27"/>
          <p:cNvSpPr txBox="1"/>
          <p:nvPr/>
        </p:nvSpPr>
        <p:spPr>
          <a:xfrm>
            <a:off x="848680" y="1184573"/>
            <a:ext cx="7311981" cy="3010859"/>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2400"/>
              <a:buFont typeface="Arial"/>
              <a:buNone/>
            </a:pPr>
            <a:r>
              <a:rPr lang="en-GB" sz="2400">
                <a:solidFill>
                  <a:schemeClr val="dk1"/>
                </a:solidFill>
                <a:latin typeface="Times New Roman"/>
                <a:ea typeface="Times New Roman"/>
                <a:cs typeface="Times New Roman"/>
                <a:sym typeface="Times New Roman"/>
              </a:rPr>
              <a:t>Standard RISC-V instructions may be inefficient for application-specific computations, requiring multiple instructions to perform complex operations. This project addresses the challenge by introducing custom RISC-V instructions, extending LLVM compiler support, and integrating the instructions into an RV32 processor core to improve performance and reduce instruction count.</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28"/>
          <p:cNvPicPr preferRelativeResize="0"/>
          <p:nvPr/>
        </p:nvPicPr>
        <p:blipFill rotWithShape="1">
          <a:blip r:embed="rId3">
            <a:alphaModFix/>
          </a:blip>
          <a:srcRect b="0" l="0" r="95477" t="30495"/>
          <a:stretch/>
        </p:blipFill>
        <p:spPr>
          <a:xfrm>
            <a:off x="-134658" y="0"/>
            <a:ext cx="472730" cy="5143499"/>
          </a:xfrm>
          <a:prstGeom prst="rect">
            <a:avLst/>
          </a:prstGeom>
          <a:noFill/>
          <a:ln>
            <a:noFill/>
          </a:ln>
        </p:spPr>
      </p:pic>
      <p:pic>
        <p:nvPicPr>
          <p:cNvPr id="161" name="Google Shape;161;p28"/>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162" name="Google Shape;162;p28"/>
          <p:cNvSpPr txBox="1"/>
          <p:nvPr>
            <p:ph idx="12" type="sldNum"/>
          </p:nvPr>
        </p:nvSpPr>
        <p:spPr>
          <a:xfrm>
            <a:off x="7045777" y="4823249"/>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163" name="Google Shape;163;p28"/>
          <p:cNvSpPr txBox="1"/>
          <p:nvPr>
            <p:ph type="ctrTitle"/>
          </p:nvPr>
        </p:nvSpPr>
        <p:spPr>
          <a:xfrm>
            <a:off x="529928" y="362339"/>
            <a:ext cx="3712888" cy="568997"/>
          </a:xfrm>
          <a:prstGeom prst="rect">
            <a:avLst/>
          </a:prstGeom>
          <a:noFill/>
          <a:ln>
            <a:noFill/>
          </a:ln>
        </p:spPr>
        <p:txBody>
          <a:bodyPr anchorCtr="0" anchor="b"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Objectives</a:t>
            </a:r>
            <a:endParaRPr/>
          </a:p>
        </p:txBody>
      </p:sp>
      <p:sp>
        <p:nvSpPr>
          <p:cNvPr id="164" name="Google Shape;164;p28"/>
          <p:cNvSpPr txBox="1"/>
          <p:nvPr/>
        </p:nvSpPr>
        <p:spPr>
          <a:xfrm>
            <a:off x="848680" y="1184573"/>
            <a:ext cx="7311900" cy="3010800"/>
          </a:xfrm>
          <a:prstGeom prst="rect">
            <a:avLst/>
          </a:prstGeom>
          <a:noFill/>
          <a:ln>
            <a:noFill/>
          </a:ln>
        </p:spPr>
        <p:txBody>
          <a:bodyPr anchorCtr="0" anchor="t" bIns="34275" lIns="68575" spcFirstLastPara="1" rIns="68575" wrap="square" tIns="34275">
            <a:noAutofit/>
          </a:bodyPr>
          <a:lstStyle/>
          <a:p>
            <a:pPr indent="-381000" lvl="0" marL="457200" rtl="0" algn="just">
              <a:lnSpc>
                <a:spcPct val="90000"/>
              </a:lnSpc>
              <a:spcBef>
                <a:spcPts val="0"/>
              </a:spcBef>
              <a:spcAft>
                <a:spcPts val="0"/>
              </a:spcAft>
              <a:buClr>
                <a:schemeClr val="dk1"/>
              </a:buClr>
              <a:buSzPts val="2400"/>
              <a:buChar char="●"/>
            </a:pPr>
            <a:r>
              <a:rPr lang="en-GB" sz="2400">
                <a:solidFill>
                  <a:schemeClr val="dk1"/>
                </a:solidFill>
              </a:rPr>
              <a:t>Design and implement custom instructions for a RISC-V RV32 processor.</a:t>
            </a:r>
            <a:endParaRPr sz="2400">
              <a:solidFill>
                <a:schemeClr val="dk1"/>
              </a:solidFill>
            </a:endParaRPr>
          </a:p>
          <a:p>
            <a:pPr indent="-381000" lvl="0" marL="457200" rtl="0" algn="just">
              <a:lnSpc>
                <a:spcPct val="90000"/>
              </a:lnSpc>
              <a:spcBef>
                <a:spcPts val="0"/>
              </a:spcBef>
              <a:spcAft>
                <a:spcPts val="0"/>
              </a:spcAft>
              <a:buClr>
                <a:schemeClr val="dk1"/>
              </a:buClr>
              <a:buSzPts val="2400"/>
              <a:buChar char="●"/>
            </a:pPr>
            <a:r>
              <a:rPr lang="en-GB" sz="2400">
                <a:solidFill>
                  <a:schemeClr val="dk1"/>
                </a:solidFill>
              </a:rPr>
              <a:t>Extend LLVM to support the custom instructions. </a:t>
            </a:r>
            <a:endParaRPr sz="2400">
              <a:solidFill>
                <a:schemeClr val="dk1"/>
              </a:solidFill>
            </a:endParaRPr>
          </a:p>
          <a:p>
            <a:pPr indent="-381000" lvl="0" marL="457200" rtl="0" algn="just">
              <a:lnSpc>
                <a:spcPct val="90000"/>
              </a:lnSpc>
              <a:spcBef>
                <a:spcPts val="0"/>
              </a:spcBef>
              <a:spcAft>
                <a:spcPts val="0"/>
              </a:spcAft>
              <a:buClr>
                <a:schemeClr val="dk1"/>
              </a:buClr>
              <a:buSzPts val="2400"/>
              <a:buChar char="●"/>
            </a:pPr>
            <a:r>
              <a:rPr lang="en-GB" sz="2400">
                <a:solidFill>
                  <a:schemeClr val="dk1"/>
                </a:solidFill>
              </a:rPr>
              <a:t>Modify the processor core to execute the custom instructions.</a:t>
            </a:r>
            <a:endParaRPr sz="2400">
              <a:solidFill>
                <a:schemeClr val="dk1"/>
              </a:solidFill>
            </a:endParaRPr>
          </a:p>
          <a:p>
            <a:pPr indent="-381000" lvl="0" marL="457200" rtl="0" algn="just">
              <a:lnSpc>
                <a:spcPct val="90000"/>
              </a:lnSpc>
              <a:spcBef>
                <a:spcPts val="0"/>
              </a:spcBef>
              <a:spcAft>
                <a:spcPts val="0"/>
              </a:spcAft>
              <a:buClr>
                <a:schemeClr val="dk1"/>
              </a:buClr>
              <a:buSzPts val="2400"/>
              <a:buChar char="●"/>
            </a:pPr>
            <a:r>
              <a:rPr lang="en-GB" sz="2400">
                <a:solidFill>
                  <a:schemeClr val="dk1"/>
                </a:solidFill>
              </a:rPr>
              <a:t>Verify the functionality of the custom instructions through simulation.</a:t>
            </a:r>
            <a:endParaRPr sz="2400">
              <a:solidFill>
                <a:schemeClr val="dk1"/>
              </a:solidFill>
            </a:endParaRPr>
          </a:p>
          <a:p>
            <a:pPr indent="-381000" lvl="0" marL="457200" rtl="0" algn="just">
              <a:lnSpc>
                <a:spcPct val="90000"/>
              </a:lnSpc>
              <a:spcBef>
                <a:spcPts val="0"/>
              </a:spcBef>
              <a:spcAft>
                <a:spcPts val="0"/>
              </a:spcAft>
              <a:buClr>
                <a:schemeClr val="dk1"/>
              </a:buClr>
              <a:buSzPts val="2400"/>
              <a:buChar char="●"/>
            </a:pPr>
            <a:r>
              <a:rPr lang="en-GB" sz="2400">
                <a:solidFill>
                  <a:schemeClr val="dk1"/>
                </a:solidFill>
              </a:rPr>
              <a:t>Run an application program on the modified processor and evaluate the results.</a:t>
            </a:r>
            <a:endParaRPr sz="2400">
              <a:solidFill>
                <a:schemeClr val="dk1"/>
              </a:solidFill>
            </a:endParaRPr>
          </a:p>
          <a:p>
            <a:pPr indent="0" lvl="0" marL="0" marR="0" rtl="0" algn="just">
              <a:lnSpc>
                <a:spcPct val="90000"/>
              </a:lnSpc>
              <a:spcBef>
                <a:spcPts val="0"/>
              </a:spcBef>
              <a:spcAft>
                <a:spcPts val="0"/>
              </a:spcAft>
              <a:buClr>
                <a:schemeClr val="dk1"/>
              </a:buClr>
              <a:buSzPts val="2400"/>
              <a:buFont typeface="Arial"/>
              <a:buNone/>
            </a:pPr>
            <a:r>
              <a:t/>
            </a:r>
            <a:endParaRPr sz="2400">
              <a:solidFill>
                <a:schemeClr val="dk1"/>
              </a:solidFill>
            </a:endParaRPr>
          </a:p>
        </p:txBody>
      </p:sp>
      <p:sp>
        <p:nvSpPr>
          <p:cNvPr id="165" name="Google Shape;165;p28"/>
          <p:cNvSpPr txBox="1"/>
          <p:nvPr>
            <p:ph idx="10" type="dt"/>
          </p:nvPr>
        </p:nvSpPr>
        <p:spPr>
          <a:xfrm>
            <a:off x="348732" y="4816250"/>
            <a:ext cx="3052276" cy="273844"/>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None/>
            </a:pPr>
            <a:r>
              <a:rPr lang="en-GB"/>
              <a:t>FYDP Synopsis Presentation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9"/>
          <p:cNvPicPr preferRelativeResize="0"/>
          <p:nvPr/>
        </p:nvPicPr>
        <p:blipFill rotWithShape="1">
          <a:blip r:embed="rId3">
            <a:alphaModFix/>
          </a:blip>
          <a:srcRect b="0" l="0" r="95477" t="30495"/>
          <a:stretch/>
        </p:blipFill>
        <p:spPr>
          <a:xfrm>
            <a:off x="-134658" y="0"/>
            <a:ext cx="472730" cy="5143499"/>
          </a:xfrm>
          <a:prstGeom prst="rect">
            <a:avLst/>
          </a:prstGeom>
          <a:noFill/>
          <a:ln>
            <a:noFill/>
          </a:ln>
        </p:spPr>
      </p:pic>
      <p:pic>
        <p:nvPicPr>
          <p:cNvPr id="171" name="Google Shape;171;p29"/>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172" name="Google Shape;172;p29"/>
          <p:cNvSpPr txBox="1"/>
          <p:nvPr>
            <p:ph idx="12" type="sldNum"/>
          </p:nvPr>
        </p:nvSpPr>
        <p:spPr>
          <a:xfrm>
            <a:off x="7045777" y="4823249"/>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173" name="Google Shape;173;p29"/>
          <p:cNvSpPr txBox="1"/>
          <p:nvPr>
            <p:ph type="ctrTitle"/>
          </p:nvPr>
        </p:nvSpPr>
        <p:spPr>
          <a:xfrm>
            <a:off x="529923" y="362350"/>
            <a:ext cx="6063000" cy="569100"/>
          </a:xfrm>
          <a:prstGeom prst="rect">
            <a:avLst/>
          </a:prstGeom>
          <a:noFill/>
          <a:ln>
            <a:noFill/>
          </a:ln>
        </p:spPr>
        <p:txBody>
          <a:bodyPr anchorCtr="0" anchor="b"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BITREV - Custom Instr</a:t>
            </a:r>
            <a:endParaRPr/>
          </a:p>
        </p:txBody>
      </p:sp>
      <p:sp>
        <p:nvSpPr>
          <p:cNvPr id="174" name="Google Shape;174;p29"/>
          <p:cNvSpPr txBox="1"/>
          <p:nvPr/>
        </p:nvSpPr>
        <p:spPr>
          <a:xfrm>
            <a:off x="848680" y="1184573"/>
            <a:ext cx="7311981" cy="3010859"/>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2400"/>
              <a:buFont typeface="Arial"/>
              <a:buNone/>
            </a:pPr>
            <a:r>
              <a:rPr lang="en-GB" sz="2400">
                <a:solidFill>
                  <a:schemeClr val="dk1"/>
                </a:solidFill>
                <a:latin typeface="Times New Roman"/>
                <a:ea typeface="Times New Roman"/>
                <a:cs typeface="Times New Roman"/>
                <a:sym typeface="Times New Roman"/>
              </a:rPr>
              <a:t>An R-type instruction that perfectly flips the 32-bit binary sequence of a register end-to-end. Doing this in software takes a massive loop, but your hardware does it instantly, providing huge speedups for cryptography or Fast Fourier Transform (FFT) calculations.</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30"/>
          <p:cNvPicPr preferRelativeResize="0"/>
          <p:nvPr/>
        </p:nvPicPr>
        <p:blipFill rotWithShape="1">
          <a:blip r:embed="rId3">
            <a:alphaModFix/>
          </a:blip>
          <a:srcRect b="0" l="0" r="95477" t="30493"/>
          <a:stretch/>
        </p:blipFill>
        <p:spPr>
          <a:xfrm>
            <a:off x="-134658" y="0"/>
            <a:ext cx="472729" cy="5143501"/>
          </a:xfrm>
          <a:prstGeom prst="rect">
            <a:avLst/>
          </a:prstGeom>
          <a:noFill/>
          <a:ln>
            <a:noFill/>
          </a:ln>
        </p:spPr>
      </p:pic>
      <p:pic>
        <p:nvPicPr>
          <p:cNvPr id="180" name="Google Shape;180;p30"/>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181" name="Google Shape;181;p30"/>
          <p:cNvSpPr txBox="1"/>
          <p:nvPr>
            <p:ph idx="12" type="sldNum"/>
          </p:nvPr>
        </p:nvSpPr>
        <p:spPr>
          <a:xfrm>
            <a:off x="7045777" y="4823249"/>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182" name="Google Shape;182;p30"/>
          <p:cNvSpPr txBox="1"/>
          <p:nvPr>
            <p:ph type="ctrTitle"/>
          </p:nvPr>
        </p:nvSpPr>
        <p:spPr>
          <a:xfrm>
            <a:off x="529923" y="362350"/>
            <a:ext cx="6063000" cy="569100"/>
          </a:xfrm>
          <a:prstGeom prst="rect">
            <a:avLst/>
          </a:prstGeom>
          <a:noFill/>
          <a:ln>
            <a:noFill/>
          </a:ln>
        </p:spPr>
        <p:txBody>
          <a:bodyPr anchorCtr="0" anchor="b"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CABS</a:t>
            </a:r>
            <a:r>
              <a:rPr lang="en-GB" sz="3600">
                <a:solidFill>
                  <a:srgbClr val="1E477B"/>
                </a:solidFill>
                <a:latin typeface="Times New Roman"/>
                <a:ea typeface="Times New Roman"/>
                <a:cs typeface="Times New Roman"/>
                <a:sym typeface="Times New Roman"/>
              </a:rPr>
              <a:t> - Custom Instr</a:t>
            </a:r>
            <a:endParaRPr/>
          </a:p>
        </p:txBody>
      </p:sp>
      <p:sp>
        <p:nvSpPr>
          <p:cNvPr id="183" name="Google Shape;183;p30"/>
          <p:cNvSpPr txBox="1"/>
          <p:nvPr/>
        </p:nvSpPr>
        <p:spPr>
          <a:xfrm>
            <a:off x="848680" y="1184573"/>
            <a:ext cx="7311900" cy="3010800"/>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2400"/>
              <a:buFont typeface="Arial"/>
              <a:buNone/>
            </a:pPr>
            <a:r>
              <a:rPr lang="en-GB" sz="2400">
                <a:solidFill>
                  <a:schemeClr val="dk1"/>
                </a:solidFill>
              </a:rPr>
              <a:t>An R-type instruction that computes the absolute value of a signed 32-bit integer directly inside the ALU. By doing this in hardware, you completely eliminate software </a:t>
            </a:r>
            <a:r>
              <a:rPr lang="en-GB" sz="2400">
                <a:solidFill>
                  <a:srgbClr val="188038"/>
                </a:solidFill>
                <a:latin typeface="Roboto Mono"/>
                <a:ea typeface="Roboto Mono"/>
                <a:cs typeface="Roboto Mono"/>
                <a:sym typeface="Roboto Mono"/>
              </a:rPr>
              <a:t>if-else</a:t>
            </a:r>
            <a:r>
              <a:rPr lang="en-GB" sz="2400">
                <a:solidFill>
                  <a:schemeClr val="dk1"/>
                </a:solidFill>
              </a:rPr>
              <a:t> branches, saving your CPU from costly pipeline flushes and keeping execution times perfectly predictable.</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1"/>
          <p:cNvPicPr preferRelativeResize="0"/>
          <p:nvPr/>
        </p:nvPicPr>
        <p:blipFill rotWithShape="1">
          <a:blip r:embed="rId3">
            <a:alphaModFix/>
          </a:blip>
          <a:srcRect b="0" l="0" r="95477" t="30493"/>
          <a:stretch/>
        </p:blipFill>
        <p:spPr>
          <a:xfrm>
            <a:off x="-134658" y="0"/>
            <a:ext cx="472729" cy="5143501"/>
          </a:xfrm>
          <a:prstGeom prst="rect">
            <a:avLst/>
          </a:prstGeom>
          <a:noFill/>
          <a:ln>
            <a:noFill/>
          </a:ln>
        </p:spPr>
      </p:pic>
      <p:pic>
        <p:nvPicPr>
          <p:cNvPr id="189" name="Google Shape;189;p31"/>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190" name="Google Shape;190;p31"/>
          <p:cNvSpPr txBox="1"/>
          <p:nvPr>
            <p:ph idx="12" type="sldNum"/>
          </p:nvPr>
        </p:nvSpPr>
        <p:spPr>
          <a:xfrm>
            <a:off x="7045777" y="4823249"/>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191" name="Google Shape;191;p31"/>
          <p:cNvSpPr txBox="1"/>
          <p:nvPr>
            <p:ph type="ctrTitle"/>
          </p:nvPr>
        </p:nvSpPr>
        <p:spPr>
          <a:xfrm>
            <a:off x="529923" y="362350"/>
            <a:ext cx="6063000" cy="569100"/>
          </a:xfrm>
          <a:prstGeom prst="rect">
            <a:avLst/>
          </a:prstGeom>
          <a:noFill/>
          <a:ln>
            <a:noFill/>
          </a:ln>
        </p:spPr>
        <p:txBody>
          <a:bodyPr anchorCtr="0" anchor="b"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BSWAP</a:t>
            </a:r>
            <a:r>
              <a:rPr lang="en-GB" sz="3600">
                <a:solidFill>
                  <a:srgbClr val="1E477B"/>
                </a:solidFill>
                <a:latin typeface="Times New Roman"/>
                <a:ea typeface="Times New Roman"/>
                <a:cs typeface="Times New Roman"/>
                <a:sym typeface="Times New Roman"/>
              </a:rPr>
              <a:t> - Custom Instr</a:t>
            </a:r>
            <a:endParaRPr/>
          </a:p>
        </p:txBody>
      </p:sp>
      <p:sp>
        <p:nvSpPr>
          <p:cNvPr id="192" name="Google Shape;192;p31"/>
          <p:cNvSpPr txBox="1"/>
          <p:nvPr/>
        </p:nvSpPr>
        <p:spPr>
          <a:xfrm>
            <a:off x="848680" y="1184573"/>
            <a:ext cx="7311900" cy="3010800"/>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2400"/>
              <a:buFont typeface="Arial"/>
              <a:buNone/>
            </a:pPr>
            <a:r>
              <a:rPr lang="en-GB" sz="2400">
                <a:solidFill>
                  <a:schemeClr val="dk1"/>
                </a:solidFill>
              </a:rPr>
              <a:t>An R-type instruction that flips the endianness of a 32-bit word (changing </a:t>
            </a:r>
            <a:r>
              <a:rPr lang="en-GB" sz="2400">
                <a:solidFill>
                  <a:srgbClr val="188038"/>
                </a:solidFill>
                <a:latin typeface="Roboto Mono"/>
                <a:ea typeface="Roboto Mono"/>
                <a:cs typeface="Roboto Mono"/>
                <a:sym typeface="Roboto Mono"/>
              </a:rPr>
              <a:t>AABBCCDD</a:t>
            </a:r>
            <a:r>
              <a:rPr lang="en-GB" sz="2400">
                <a:solidFill>
                  <a:schemeClr val="dk1"/>
                </a:solidFill>
              </a:rPr>
              <a:t> into </a:t>
            </a:r>
            <a:r>
              <a:rPr lang="en-GB" sz="2400">
                <a:solidFill>
                  <a:srgbClr val="188038"/>
                </a:solidFill>
                <a:latin typeface="Roboto Mono"/>
                <a:ea typeface="Roboto Mono"/>
                <a:cs typeface="Roboto Mono"/>
                <a:sym typeface="Roboto Mono"/>
              </a:rPr>
              <a:t>DDCCBBAA</a:t>
            </a:r>
            <a:r>
              <a:rPr lang="en-GB" sz="2400">
                <a:solidFill>
                  <a:schemeClr val="dk1"/>
                </a:solidFill>
              </a:rPr>
              <a:t>). This is an absolute necessity for network programming, allowing you to instantly convert your CPU's native Little-Endian data into standard Big-Endian network packets.</a:t>
            </a: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32"/>
          <p:cNvPicPr preferRelativeResize="0"/>
          <p:nvPr/>
        </p:nvPicPr>
        <p:blipFill rotWithShape="1">
          <a:blip r:embed="rId3">
            <a:alphaModFix/>
          </a:blip>
          <a:srcRect b="0" l="0" r="95477" t="30493"/>
          <a:stretch/>
        </p:blipFill>
        <p:spPr>
          <a:xfrm>
            <a:off x="-134658" y="0"/>
            <a:ext cx="472729" cy="5143501"/>
          </a:xfrm>
          <a:prstGeom prst="rect">
            <a:avLst/>
          </a:prstGeom>
          <a:noFill/>
          <a:ln>
            <a:noFill/>
          </a:ln>
        </p:spPr>
      </p:pic>
      <p:pic>
        <p:nvPicPr>
          <p:cNvPr id="198" name="Google Shape;198;p32"/>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199" name="Google Shape;199;p32"/>
          <p:cNvSpPr txBox="1"/>
          <p:nvPr>
            <p:ph idx="12" type="sldNum"/>
          </p:nvPr>
        </p:nvSpPr>
        <p:spPr>
          <a:xfrm>
            <a:off x="7045777" y="4823249"/>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200" name="Google Shape;200;p32"/>
          <p:cNvSpPr txBox="1"/>
          <p:nvPr>
            <p:ph type="ctrTitle"/>
          </p:nvPr>
        </p:nvSpPr>
        <p:spPr>
          <a:xfrm>
            <a:off x="529923" y="362350"/>
            <a:ext cx="6063000" cy="569100"/>
          </a:xfrm>
          <a:prstGeom prst="rect">
            <a:avLst/>
          </a:prstGeom>
          <a:noFill/>
          <a:ln>
            <a:noFill/>
          </a:ln>
        </p:spPr>
        <p:txBody>
          <a:bodyPr anchorCtr="0" anchor="b"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MASKI</a:t>
            </a:r>
            <a:r>
              <a:rPr lang="en-GB" sz="3600">
                <a:solidFill>
                  <a:srgbClr val="1E477B"/>
                </a:solidFill>
                <a:latin typeface="Times New Roman"/>
                <a:ea typeface="Times New Roman"/>
                <a:cs typeface="Times New Roman"/>
                <a:sym typeface="Times New Roman"/>
              </a:rPr>
              <a:t> - Custom Instr</a:t>
            </a:r>
            <a:endParaRPr/>
          </a:p>
        </p:txBody>
      </p:sp>
      <p:sp>
        <p:nvSpPr>
          <p:cNvPr id="201" name="Google Shape;201;p32"/>
          <p:cNvSpPr txBox="1"/>
          <p:nvPr/>
        </p:nvSpPr>
        <p:spPr>
          <a:xfrm>
            <a:off x="848680" y="1184573"/>
            <a:ext cx="7311900" cy="3010800"/>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2400"/>
              <a:buFont typeface="Arial"/>
              <a:buNone/>
            </a:pPr>
            <a:r>
              <a:rPr lang="en-GB" sz="2400">
                <a:solidFill>
                  <a:schemeClr val="dk1"/>
                </a:solidFill>
              </a:rPr>
              <a:t>An I-type instruction that performs a bitwise AND between a source register and a 12-bit immediate. It allows you to rapidly extract specific bit fields (like device IDs or status flags) from a larger configuration register in a single clock cycle.</a:t>
            </a:r>
            <a:endParaRPr sz="2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33"/>
          <p:cNvPicPr preferRelativeResize="0"/>
          <p:nvPr/>
        </p:nvPicPr>
        <p:blipFill rotWithShape="1">
          <a:blip r:embed="rId3">
            <a:alphaModFix/>
          </a:blip>
          <a:srcRect b="0" l="0" r="95477" t="30493"/>
          <a:stretch/>
        </p:blipFill>
        <p:spPr>
          <a:xfrm>
            <a:off x="-134658" y="0"/>
            <a:ext cx="472729" cy="5143501"/>
          </a:xfrm>
          <a:prstGeom prst="rect">
            <a:avLst/>
          </a:prstGeom>
          <a:noFill/>
          <a:ln>
            <a:noFill/>
          </a:ln>
        </p:spPr>
      </p:pic>
      <p:pic>
        <p:nvPicPr>
          <p:cNvPr id="207" name="Google Shape;207;p33"/>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208" name="Google Shape;208;p33"/>
          <p:cNvSpPr txBox="1"/>
          <p:nvPr>
            <p:ph idx="12" type="sldNum"/>
          </p:nvPr>
        </p:nvSpPr>
        <p:spPr>
          <a:xfrm>
            <a:off x="7045777" y="4823249"/>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209" name="Google Shape;209;p33"/>
          <p:cNvSpPr txBox="1"/>
          <p:nvPr>
            <p:ph type="ctrTitle"/>
          </p:nvPr>
        </p:nvSpPr>
        <p:spPr>
          <a:xfrm>
            <a:off x="529923" y="362350"/>
            <a:ext cx="6063000" cy="569100"/>
          </a:xfrm>
          <a:prstGeom prst="rect">
            <a:avLst/>
          </a:prstGeom>
          <a:noFill/>
          <a:ln>
            <a:noFill/>
          </a:ln>
        </p:spPr>
        <p:txBody>
          <a:bodyPr anchorCtr="0" anchor="b"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SW.BSWAP</a:t>
            </a:r>
            <a:r>
              <a:rPr lang="en-GB" sz="3600">
                <a:solidFill>
                  <a:srgbClr val="1E477B"/>
                </a:solidFill>
                <a:latin typeface="Times New Roman"/>
                <a:ea typeface="Times New Roman"/>
                <a:cs typeface="Times New Roman"/>
                <a:sym typeface="Times New Roman"/>
              </a:rPr>
              <a:t> - Custom Instr</a:t>
            </a:r>
            <a:endParaRPr/>
          </a:p>
        </p:txBody>
      </p:sp>
      <p:sp>
        <p:nvSpPr>
          <p:cNvPr id="210" name="Google Shape;210;p33"/>
          <p:cNvSpPr txBox="1"/>
          <p:nvPr/>
        </p:nvSpPr>
        <p:spPr>
          <a:xfrm>
            <a:off x="848680" y="1184573"/>
            <a:ext cx="7311900" cy="3010800"/>
          </a:xfrm>
          <a:prstGeom prst="rect">
            <a:avLst/>
          </a:prstGeom>
          <a:noFill/>
          <a:ln>
            <a:noFill/>
          </a:ln>
        </p:spPr>
        <p:txBody>
          <a:bodyPr anchorCtr="0" anchor="t" bIns="34275" lIns="68575" spcFirstLastPara="1" rIns="68575" wrap="square" tIns="34275">
            <a:noAutofit/>
          </a:bodyPr>
          <a:lstStyle/>
          <a:p>
            <a:pPr indent="0" lvl="0" marL="0" marR="0" rtl="0" algn="just">
              <a:lnSpc>
                <a:spcPct val="90000"/>
              </a:lnSpc>
              <a:spcBef>
                <a:spcPts val="0"/>
              </a:spcBef>
              <a:spcAft>
                <a:spcPts val="0"/>
              </a:spcAft>
              <a:buClr>
                <a:schemeClr val="dk1"/>
              </a:buClr>
              <a:buSzPts val="2400"/>
              <a:buFont typeface="Arial"/>
              <a:buNone/>
            </a:pPr>
            <a:r>
              <a:rPr lang="en-GB" sz="2400">
                <a:solidFill>
                  <a:schemeClr val="dk1"/>
                </a:solidFill>
              </a:rPr>
              <a:t>A highly specialized S-type instruction that fuses two operations into one. It takes a register, flips its byte order, and writes it directly to the data memory in a single cycle, completely bypassing the need to waste a temporary register or an extra clock tick.</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4"/>
          <p:cNvPicPr preferRelativeResize="0"/>
          <p:nvPr/>
        </p:nvPicPr>
        <p:blipFill rotWithShape="1">
          <a:blip r:embed="rId3">
            <a:alphaModFix/>
          </a:blip>
          <a:srcRect b="0" l="0" r="95477" t="30493"/>
          <a:stretch/>
        </p:blipFill>
        <p:spPr>
          <a:xfrm>
            <a:off x="-134658" y="0"/>
            <a:ext cx="472729" cy="5143501"/>
          </a:xfrm>
          <a:prstGeom prst="rect">
            <a:avLst/>
          </a:prstGeom>
          <a:noFill/>
          <a:ln>
            <a:noFill/>
          </a:ln>
        </p:spPr>
      </p:pic>
      <p:pic>
        <p:nvPicPr>
          <p:cNvPr id="216" name="Google Shape;216;p34"/>
          <p:cNvPicPr preferRelativeResize="0"/>
          <p:nvPr/>
        </p:nvPicPr>
        <p:blipFill rotWithShape="1">
          <a:blip r:embed="rId4">
            <a:alphaModFix/>
          </a:blip>
          <a:srcRect b="0" l="0" r="0" t="0"/>
          <a:stretch/>
        </p:blipFill>
        <p:spPr>
          <a:xfrm>
            <a:off x="8216158" y="141715"/>
            <a:ext cx="631628" cy="635351"/>
          </a:xfrm>
          <a:prstGeom prst="rect">
            <a:avLst/>
          </a:prstGeom>
          <a:noFill/>
          <a:ln>
            <a:noFill/>
          </a:ln>
        </p:spPr>
      </p:pic>
      <p:sp>
        <p:nvSpPr>
          <p:cNvPr id="217" name="Google Shape;217;p34"/>
          <p:cNvSpPr txBox="1"/>
          <p:nvPr>
            <p:ph idx="12" type="sldNum"/>
          </p:nvPr>
        </p:nvSpPr>
        <p:spPr>
          <a:xfrm>
            <a:off x="7045777" y="4823249"/>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GB"/>
              <a:t>‹#›</a:t>
            </a:fld>
            <a:endParaRPr/>
          </a:p>
        </p:txBody>
      </p:sp>
      <p:sp>
        <p:nvSpPr>
          <p:cNvPr id="218" name="Google Shape;218;p34"/>
          <p:cNvSpPr txBox="1"/>
          <p:nvPr>
            <p:ph type="ctrTitle"/>
          </p:nvPr>
        </p:nvSpPr>
        <p:spPr>
          <a:xfrm>
            <a:off x="529923" y="362350"/>
            <a:ext cx="6063000" cy="569100"/>
          </a:xfrm>
          <a:prstGeom prst="rect">
            <a:avLst/>
          </a:prstGeom>
          <a:noFill/>
          <a:ln>
            <a:noFill/>
          </a:ln>
        </p:spPr>
        <p:txBody>
          <a:bodyPr anchorCtr="0" anchor="b" bIns="34275" lIns="68575" spcFirstLastPara="1" rIns="68575" wrap="square" tIns="34275">
            <a:normAutofit/>
          </a:bodyPr>
          <a:lstStyle/>
          <a:p>
            <a:pPr indent="0" lvl="0" marL="0" rtl="0" algn="just">
              <a:lnSpc>
                <a:spcPct val="90000"/>
              </a:lnSpc>
              <a:spcBef>
                <a:spcPts val="0"/>
              </a:spcBef>
              <a:spcAft>
                <a:spcPts val="0"/>
              </a:spcAft>
              <a:buClr>
                <a:srgbClr val="1E477B"/>
              </a:buClr>
              <a:buSzPts val="3600"/>
              <a:buFont typeface="Times New Roman"/>
              <a:buNone/>
            </a:pPr>
            <a:r>
              <a:rPr lang="en-GB" sz="3600">
                <a:solidFill>
                  <a:srgbClr val="1E477B"/>
                </a:solidFill>
                <a:latin typeface="Times New Roman"/>
                <a:ea typeface="Times New Roman"/>
                <a:cs typeface="Times New Roman"/>
                <a:sym typeface="Times New Roman"/>
              </a:rPr>
              <a:t>Results</a:t>
            </a:r>
            <a:endParaRPr/>
          </a:p>
        </p:txBody>
      </p:sp>
      <p:sp>
        <p:nvSpPr>
          <p:cNvPr id="219" name="Google Shape;219;p34"/>
          <p:cNvSpPr txBox="1"/>
          <p:nvPr/>
        </p:nvSpPr>
        <p:spPr>
          <a:xfrm>
            <a:off x="848680" y="1184573"/>
            <a:ext cx="7311900" cy="30108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Clr>
                <a:schemeClr val="dk1"/>
              </a:buClr>
              <a:buSzPts val="1100"/>
              <a:buFont typeface="Arial"/>
              <a:buNone/>
            </a:pPr>
            <a:r>
              <a:rPr lang="en-GB" sz="1800">
                <a:solidFill>
                  <a:schemeClr val="dk1"/>
                </a:solidFill>
              </a:rPr>
              <a:t>This project successfully demonstrated the implementation of custom RISC-V instructions through a complete hardware-software co-design approach. Five custom instructions were added to the LLVM toolchain and integrated into a custom RV32 processor core. An application-level telemetry processing program was compiled, converted to machine code, and executed on the modified processor. Simulation results verified the correct functionality of all custom instructions and the overall system. The project shows how custom ISA extensions can be used to accelerate application-specific tasks while maintaining compatibility with the RISC-V ecosystem.</a:t>
            </a:r>
            <a:endParaRPr sz="1800">
              <a:solidFill>
                <a:schemeClr val="dk1"/>
              </a:solidFill>
            </a:endParaRPr>
          </a:p>
          <a:p>
            <a:pPr indent="0" lvl="0" marL="0" marR="0" rtl="0" algn="just">
              <a:lnSpc>
                <a:spcPct val="90000"/>
              </a:lnSpc>
              <a:spcBef>
                <a:spcPts val="1200"/>
              </a:spcBef>
              <a:spcAft>
                <a:spcPts val="0"/>
              </a:spcAft>
              <a:buClr>
                <a:schemeClr val="dk1"/>
              </a:buClr>
              <a:buSzPts val="2400"/>
              <a:buFont typeface="Arial"/>
              <a:buNone/>
            </a:pPr>
            <a:r>
              <a:t/>
            </a:r>
            <a:endParaRPr sz="2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